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56000" cy="6858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720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B0D9"/>
                </a:solidFill>
                <a:latin typeface="Calibri"/>
              </a:defRPr>
            </a:pPr>
            <a:r>
              <a:t>PORTOFOLIO ANALISIS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640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  <a:latin typeface="Calibri"/>
              </a:defRPr>
            </a:pPr>
            <a:r>
              <a:t>Indeks Pembangunan</a:t>
            </a:r>
          </a:p>
          <a:p>
            <a:pPr algn="l">
              <a:defRPr sz="4300" b="1">
                <a:solidFill>
                  <a:srgbClr val="FFFFFF"/>
                </a:solidFill>
                <a:latin typeface="Calibri"/>
              </a:defRPr>
            </a:pPr>
            <a:r>
              <a:t>Manusia Indonesia</a:t>
            </a:r>
          </a:p>
          <a:p>
            <a:pPr algn="l">
              <a:defRPr sz="43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2844000"/>
            <a:ext cx="61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0">
                <a:solidFill>
                  <a:srgbClr val="E9B7C6"/>
                </a:solidFill>
                <a:latin typeface="Calibri"/>
              </a:defRPr>
            </a:pPr>
            <a:r>
              <a:t>Membaca pembangunan manusia Indonesia lewat statistik resmi BPS: kesehatan, pendidikan, dan standar hidup layak dari 38 provinsi, dari tren nasional enam tahun sampai jurang antarprovinsi yang belum juga menutup.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4031999"/>
            <a:ext cx="6048000" cy="21600"/>
          </a:xfrm>
          <a:prstGeom prst="rect">
            <a:avLst/>
          </a:prstGeom>
          <a:solidFill>
            <a:srgbClr val="7F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4212000"/>
            <a:ext cx="63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E4F2"/>
                </a:solidFill>
                <a:latin typeface="Calibri"/>
              </a:defRPr>
            </a:pPr>
            <a:r>
              <a:t>Sumber: BPS, Publikasi IPM 2025 dan BRS IPM 2025 (5 November 2025)</a:t>
            </a:r>
          </a:p>
          <a:p>
            <a:pPr algn="l">
              <a:defRPr sz="1300" b="0">
                <a:solidFill>
                  <a:srgbClr val="D6E4F2"/>
                </a:solidFill>
                <a:latin typeface="Calibri"/>
              </a:defRPr>
            </a:pPr>
            <a:r>
              <a:t>Periode: nasional 2020 sampai 2025, provinsi 2022 sampai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5148000"/>
            <a:ext cx="6048000" cy="756000"/>
          </a:xfrm>
          <a:prstGeom prst="rect">
            <a:avLst/>
          </a:prstGeom>
          <a:solidFill>
            <a:srgbClr val="7F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5256000"/>
            <a:ext cx="5832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2A26"/>
                </a:solidFill>
                <a:latin typeface="Calibri"/>
              </a:defRPr>
            </a:pPr>
            <a:r>
              <a:t>DASHBOARD POWER BI</a:t>
            </a:r>
          </a:p>
          <a:p>
            <a:pPr algn="l">
              <a:defRPr sz="1300" b="1">
                <a:solidFill>
                  <a:srgbClr val="2E2A26"/>
                </a:solidFill>
                <a:latin typeface="Calibri"/>
              </a:defRPr>
            </a:pPr>
            <a:r>
              <a:t>Kit siap rakit: 5 file CSV, model bintang, 19 measure DAX, 4 halaman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16000" y="0"/>
            <a:ext cx="4777200" cy="6858000"/>
          </a:xfrm>
          <a:prstGeom prst="rect">
            <a:avLst/>
          </a:prstGeom>
          <a:solidFill>
            <a:srgbClr val="D9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8000" y="827999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ECF1"/>
                </a:solidFill>
                <a:latin typeface="Calibri"/>
              </a:defRPr>
            </a:pPr>
            <a:r>
              <a:t>IPM NASIONAL</a:t>
            </a:r>
          </a:p>
          <a:p>
            <a:pPr algn="l">
              <a:defRPr sz="1400" b="1">
                <a:solidFill>
                  <a:srgbClr val="FBECF1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000" y="1655999"/>
            <a:ext cx="410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75,90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000" y="2556000"/>
            <a:ext cx="39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ECF1"/>
                </a:solidFill>
                <a:latin typeface="Calibri"/>
              </a:defRPr>
            </a:pPr>
            <a:r>
              <a:t>Kategori Tinggi, naik 3,09 poin dari 72,81 pada 2020 (rata-rata +0,62 poin per tahun)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8000" y="3240000"/>
            <a:ext cx="3600000" cy="18000"/>
          </a:xfrm>
          <a:prstGeom prst="rect">
            <a:avLst/>
          </a:prstGeom>
          <a:solidFill>
            <a:srgbClr val="E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8000" y="3420000"/>
            <a:ext cx="396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Tertinggi: DKI Jakarta 85,05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Terendah: Papua Pegunungan 54,91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Gap: 30,14 poin (1,55 kali lipat)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Kategori 2025: 3 Sangat Tinggi,</a:t>
            </a:r>
          </a:p>
          <a:p>
            <a:pPr algn="l">
              <a:defRPr sz="1450" b="0">
                <a:solidFill>
                  <a:srgbClr val="FFFFFF"/>
                </a:solidFill>
                <a:latin typeface="Calibri"/>
              </a:defRPr>
            </a:pPr>
            <a:r>
              <a:t>30 Tinggi, 4 Sedang, 1 Rendah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000" y="5616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BAGHIZ ASSHIDDIQIE ARASYA</a:t>
            </a:r>
          </a:p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Potret Terbaru: IPM 2025 Sebesar 75,90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B7C6"/>
                </a:solidFill>
                <a:latin typeface="Calibri"/>
              </a:defRPr>
            </a:pPr>
            <a:r>
              <a:t>Empat angka kunci dari Publikasi dan BRS IPM 2025, BPS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224000"/>
            <a:ext cx="2700000" cy="64800"/>
          </a:xfrm>
          <a:prstGeom prst="rect">
            <a:avLst/>
          </a:prstGeom>
          <a:solidFill>
            <a:srgbClr val="D9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A7F76"/>
                </a:solidFill>
                <a:latin typeface="Calibri"/>
              </a:defRPr>
            </a:pPr>
            <a:r>
              <a:t>IPM NASIONAL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F5D8A"/>
                </a:solidFill>
                <a:latin typeface="Calibri"/>
              </a:defRPr>
            </a:pPr>
            <a:r>
              <a:t>75,90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999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Kategori Tinggi, sama seperti 2020 sampai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8000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8000" y="1224000"/>
            <a:ext cx="2700000" cy="64800"/>
          </a:xfrm>
          <a:prstGeom prst="rect">
            <a:avLst/>
          </a:prstGeom>
          <a:solidFill>
            <a:srgbClr val="D9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000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A7F76"/>
                </a:solidFill>
                <a:latin typeface="Calibri"/>
              </a:defRPr>
            </a:pPr>
            <a:r>
              <a:t>KENAIKAN 2020 KE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000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F5D8A"/>
                </a:solidFill>
                <a:latin typeface="Calibri"/>
              </a:defRPr>
            </a:pPr>
            <a:r>
              <a:t>+3,09 poin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000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72,81 menjadi 75,90, rata-rata +0,62 poin per tahun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224000"/>
            <a:ext cx="2700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224000"/>
            <a:ext cx="2700000" cy="64800"/>
          </a:xfrm>
          <a:prstGeom prst="rect">
            <a:avLst/>
          </a:prstGeom>
          <a:solidFill>
            <a:srgbClr val="D9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0000" y="13392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A7F76"/>
                </a:solidFill>
                <a:latin typeface="Calibri"/>
              </a:defRPr>
            </a:pPr>
            <a:r>
              <a:t>IPM TERTINGGI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0000" y="1565999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F5D8A"/>
                </a:solidFill>
                <a:latin typeface="Calibri"/>
              </a:defRPr>
            </a:pPr>
            <a:r>
              <a:t>85,05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0000" y="1961999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DKI Jakarta, kategori Sangat Tinggi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000" y="1224000"/>
            <a:ext cx="2592000" cy="11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000" y="1224000"/>
            <a:ext cx="2592000" cy="64800"/>
          </a:xfrm>
          <a:prstGeom prst="rect">
            <a:avLst/>
          </a:prstGeom>
          <a:solidFill>
            <a:srgbClr val="D9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000" y="1339200"/>
            <a:ext cx="2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A7F76"/>
                </a:solidFill>
                <a:latin typeface="Calibri"/>
              </a:defRPr>
            </a:pPr>
            <a:r>
              <a:t>GAP TERTINGGI KE TERENDAH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000" y="1565999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F5D8A"/>
                </a:solidFill>
                <a:latin typeface="Calibri"/>
              </a:defRPr>
            </a:pPr>
            <a:r>
              <a:t>30,14 poin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6000" y="1961999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2A26"/>
                </a:solidFill>
                <a:latin typeface="Calibri"/>
              </a:defRPr>
            </a:pPr>
            <a:r>
              <a:t>Terendah Papua Pegunungan 54,91, rasio 1,55 kali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273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99" y="2736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2F5D8A"/>
                </a:solidFill>
                <a:latin typeface="Calibri"/>
              </a:defRPr>
            </a:pPr>
            <a:r>
              <a:t>Nasional belum menyentuh Sangat Tinggi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999" y="3016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Ambang Sangat Tinggi adalah 80. IPM nasional 75,90 masih berjarak 4,10 poin dari ambang itu, dan statusnya Tinggi di seluruh seri 2020 sampai 2025.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376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999" y="3761999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2F5D8A"/>
                </a:solidFill>
                <a:latin typeface="Calibri"/>
              </a:defRPr>
            </a:pPr>
            <a:r>
              <a:t>Hanya 3 provinsi yang Sangat Tinggi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99" y="4042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DKI Jakarta (85,05), DI Yogyakarta (82,48), dan Kepulauan Riau (80,53). Sisanya: 30 provinsi Tinggi, 4 Sedang, dan 1 Rendah.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478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999" y="478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2F5D8A"/>
                </a:solidFill>
                <a:latin typeface="Calibri"/>
              </a:defRPr>
            </a:pPr>
            <a:r>
              <a:t>Provinsi tipikal berada di bawah angka nasional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999" y="5068799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2A26"/>
                </a:solidFill>
                <a:latin typeface="Calibri"/>
              </a:defRPr>
            </a:pPr>
            <a:r>
              <a:t>Median IPM provinsi 2025 adalah 74,81 dan rata-rata sederhana 38 provinsi 74,25, sedikit di bawah IPM nasional resmi 75,90.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IPM Indonesia 2026 • Data BPS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Tren Nasional: Naik Setiap Tahun, Semua Komponen Ikut Naik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B7C6"/>
                </a:solidFill>
                <a:latin typeface="Calibri"/>
              </a:defRPr>
            </a:pPr>
            <a:r>
              <a:t>IPM dan komponen penyusunnya, nasional 2020 sampai 2025</a:t>
            </a:r>
          </a:p>
        </p:txBody>
      </p:sp>
      <p:pic>
        <p:nvPicPr>
          <p:cNvPr id="6" name="Picture 5" descr="01_tren_nasional_i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5724000" cy="3120429"/>
          </a:xfrm>
          <a:prstGeom prst="rect">
            <a:avLst/>
          </a:prstGeom>
        </p:spPr>
      </p:pic>
      <p:pic>
        <p:nvPicPr>
          <p:cNvPr id="7" name="Picture 6" descr="02_komponen_nasional_2020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116000"/>
            <a:ext cx="5652000" cy="31078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42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99" y="442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Enam tahun tanpa penurunan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470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Seri IPM nasional: 72,81 (2020), 73,16, 73,77, 74,39, 75,02, lalu 75,90 (2025). Total kenaikan 3,09 poin, rata-rata +0,62 poin per tahun.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41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541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Komponen 2025 dan perubahannya sejak 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569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Umur Harapan Hidup 74,47 tahun (+1,10), Rata-rata Lama Sekolah 9,07 tahun (+0,59), Harapan Lama Sekolah 13,30 tahun (+0,32).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40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99" y="640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Standar hidup naik paling besar secara persen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99" y="668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Pengeluaran riil per kapita naik 16,24%, dari Rp11.013 ribu menjadi Rp12.802 ribu per tahun.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IPM Indonesia 2026 • Data BPS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Peringkat Provinsi 2025: Jurang 30,14 Poin di Satu Negara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B7C6"/>
                </a:solidFill>
                <a:latin typeface="Calibri"/>
              </a:defRPr>
            </a:pPr>
            <a:r>
              <a:t>IPM per provinsi tahun 2025, 38 provinsi</a:t>
            </a:r>
          </a:p>
        </p:txBody>
      </p:sp>
      <p:pic>
        <p:nvPicPr>
          <p:cNvPr id="6" name="Picture 5" descr="03_ranking_provinsi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44000"/>
            <a:ext cx="5079834" cy="561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28000" y="1152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4000" y="1152000"/>
            <a:ext cx="61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DKI Jakarta di puncak: 85,05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4000" y="1432800"/>
            <a:ext cx="61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Disusul DI Yogyakarta 82,48 dan Kepulauan Riau 80,53. Hanya tiga provinsi ini yang mencapai kategori Sangat Tinggi (80 ke atas).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8000" y="217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4000" y="2178000"/>
            <a:ext cx="61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Papua Pegunungan di dasar: 54,91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4000" y="2458800"/>
            <a:ext cx="61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Satu-satunya provinsi kategori Rendah (di bawah 60). Di atasnya Papua Tengah 60,64, lalu klaster Sedang: Papua Barat 68,48, Papua Selatan 69,54, dan Nusa Tenggara Timur 69,89.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8000" y="320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4000" y="3204000"/>
            <a:ext cx="61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Mayoritas provinsi berstatus Tinggi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4000" y="3484800"/>
            <a:ext cx="61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30 dari 38 provinsi berada di rentang 70 sampai di bawah 80. Kalimantan Timur (79,39) dan Bali (79,37) adalah yang paling dekat menyusul ke Sangat Tinggi.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8000" y="423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4000" y="4230000"/>
            <a:ext cx="61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Titik tengah provinsi: 74,81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4000" y="4510800"/>
            <a:ext cx="61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Separuh provinsi berada di bawah median itu. Jawa Barat tepat di 75,90, sama dengan angka nasional, di peringkat 15.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IPM Indonesia 2026 • Data BPS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Kategori dan Gap: Mayoritas Tinggi, Jurang Tidak Bergerak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B7C6"/>
                </a:solidFill>
                <a:latin typeface="Calibri"/>
              </a:defRPr>
            </a:pPr>
            <a:r>
              <a:t>Distribusi kategori 2025 dan jarak tertinggi, terendah, median 2022 sampai 2025</a:t>
            </a:r>
          </a:p>
        </p:txBody>
      </p:sp>
      <p:pic>
        <p:nvPicPr>
          <p:cNvPr id="6" name="Picture 5" descr="04_distribusi_kategori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5724000" cy="3122533"/>
          </a:xfrm>
          <a:prstGeom prst="rect">
            <a:avLst/>
          </a:prstGeom>
        </p:spPr>
      </p:pic>
      <p:pic>
        <p:nvPicPr>
          <p:cNvPr id="7" name="Picture 6" descr="05_gap_maks_min_median_2022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116000"/>
            <a:ext cx="5652000" cy="30832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42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99" y="442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Distribusi kategori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470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3 provinsi Sangat Tinggi, 30 Tinggi, 4 Sedang, dan 1 Rendah. Peta pembangunan manusia Indonesia terkonsentrasi di kategori Tinggi.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41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541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Gap maksimum ke minimum: 30,14 poin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569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DKI Jakarta 85,05 berbanding Papua Pegunungan 54,91, setara 1,55 kali lipat. Jurang ini adalah cerita utama proyek ini.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1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99" y="6210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Gap hampir persis sama dengan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99" y="6490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Pada 2022 gapnya 30,08 poin, pada 2025 menjadi 30,14 poin, berubah hanya +0,06 poin dalam tiga tahun.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IPM Indonesia 2026 • Data BPS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Konvergensi: Yang Tertinggal Berlari Lebih Cepat, Jurang Belum Menutup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B7C6"/>
                </a:solidFill>
                <a:latin typeface="Calibri"/>
              </a:defRPr>
            </a:pPr>
            <a:r>
              <a:t>Kenaikan IPM per provinsi, 2022 ke 2025</a:t>
            </a:r>
          </a:p>
        </p:txBody>
      </p:sp>
      <p:pic>
        <p:nvPicPr>
          <p:cNvPr id="6" name="Picture 5" descr="06_gain_provinsi_2022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44000"/>
            <a:ext cx="5231060" cy="561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3999" y="1152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152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Tercepat: Papua Barat, +2,45 poin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432800"/>
            <a:ext cx="56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Dari 66,03 (2022) menjadi 68,48 (2025). Disusul Kalimantan Barat (+2,38) dan Nusa Tenggara Barat (+2,32).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3999" y="194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1944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Terlambat: Kalimantan Tengah, +1,69 poin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2224800"/>
            <a:ext cx="56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Dari 73,17 menjadi 74,86. Rata-rata kenaikan semua provinsi pada periode ini adalah 2,05 poin.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3999" y="273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0" y="2736000"/>
            <a:ext cx="56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Kelompok bawah memang lebih cepat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0" y="3016800"/>
            <a:ext cx="56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10 provinsi terbawah versi 2022 rata-rata naik 2,15 poin, berbanding 1,99 poin untuk 10 provinsi teratas. Selisih kecepatannya hanya 0,16 poin.</a:t>
            </a:r>
          </a:p>
        </p:txBody>
      </p:sp>
      <p:pic>
        <p:nvPicPr>
          <p:cNvPr id="16" name="Picture 15" descr="07_konvergensi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999" y="4464000"/>
            <a:ext cx="3780000" cy="20757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28000" y="4536000"/>
            <a:ext cx="1944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7F76"/>
                </a:solidFill>
                <a:latin typeface="Calibri"/>
              </a:defRPr>
            </a:pPr>
            <a:r>
              <a:t>Scatter: IPM awal 2022 vs kenaikan. Titik bawah cenderung naik lebih besar, tetapi belum cukup untuk menutup gap.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IPM Indonesia 2026 • Data BPS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Diagnostik: 10 Provinsi Terendah Tertinggal di Uang dan Sekolah Dewasa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B7C6"/>
                </a:solidFill>
                <a:latin typeface="Calibri"/>
              </a:defRPr>
            </a:pPr>
            <a:r>
              <a:t>Rata-rata komponen 2025, kelompok 10 terendah vs angka nasional BPS</a:t>
            </a:r>
          </a:p>
        </p:txBody>
      </p:sp>
      <p:pic>
        <p:nvPicPr>
          <p:cNvPr id="6" name="Picture 5" descr="08_komponen_bawah_vs_na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5724000" cy="3143571"/>
          </a:xfrm>
          <a:prstGeom prst="rect">
            <a:avLst/>
          </a:prstGeom>
        </p:spPr>
      </p:pic>
      <p:pic>
        <p:nvPicPr>
          <p:cNvPr id="7" name="Picture 6" descr="09_gap_hls_rls_terbaw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116000"/>
            <a:ext cx="5652000" cy="3087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428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99" y="4428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Pengeluaran: ketertinggalan terbesar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4708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Kelompok 10 terendah rata-rata Rp9,36 juta per tahun, berbanding Rp12,80 juta nasional, selisih Rp3,45 juta.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22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5220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Pendidikan dewasa dan kesehatan ikut tertinggal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5500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Rata-rata Lama Sekolah 7,83 tahun vs 9,07 tahun nasional (selisih 1,24), Umur Harapan Hidup 70,41 vs 74,47 tahun (selisih 4,06), Harapan Lama Sekolah 12,53 vs 13,30 tahun.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1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99" y="6210000"/>
            <a:ext cx="11087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2F5D8A"/>
                </a:solidFill>
                <a:latin typeface="Calibri"/>
              </a:defRPr>
            </a:pPr>
            <a:r>
              <a:t>Gap HLS ke RLS lebih lebar di kelompok bawah: 4,70 vs 4,23 tahun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99" y="6490800"/>
            <a:ext cx="1108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2A26"/>
                </a:solidFill>
                <a:latin typeface="Calibri"/>
              </a:defRPr>
            </a:pPr>
            <a:r>
              <a:t>Harapan Lama Sekolah adalah harapan untuk anak usia 7 tahun, Rata-rata Lama Sekolah adalah stok pendidikan penduduk 25 tahun ke atas. Gap yang lebih lebar berarti stok pendidikan orang dewasa tertinggal lebih jauh dari harapan generasi anak saat ini.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IPM Indonesia 2026 • Data BPS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IPM vs Kemiskinan: Berlawanan Arah Secara Kuat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B7C6"/>
                </a:solidFill>
                <a:latin typeface="Calibri"/>
              </a:defRPr>
            </a:pPr>
            <a:r>
              <a:t>Korelasi IPM 2025 x kemiskinan Maret 2025, 38 provinsi</a:t>
            </a:r>
          </a:p>
        </p:txBody>
      </p:sp>
      <p:pic>
        <p:nvPicPr>
          <p:cNvPr id="6" name="Picture 5" descr="12_ipm_vs_kemiski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16000"/>
            <a:ext cx="7056000" cy="38726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5148000"/>
            <a:ext cx="70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F76"/>
                </a:solidFill>
                <a:latin typeface="Calibri"/>
              </a:defRPr>
            </a:pPr>
            <a:r>
              <a:t>Chart rentang antarprovinsi per komponen tersedia di repo: 10_rentang_uhh_provinsi.png dan 11_rentang_pengeluaran_provinsi.png.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6000" y="1224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0" y="1224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D8A"/>
                </a:solidFill>
                <a:latin typeface="Calibri"/>
              </a:defRPr>
            </a:pPr>
            <a:r>
              <a:t>Korelasi negatif kuat: r = -0,8188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0" y="1504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E2A26"/>
                </a:solidFill>
                <a:latin typeface="Calibri"/>
              </a:defRPr>
            </a:pPr>
            <a:r>
              <a:t>Pasangannya dinyatakan eksplisit: IPM 2025 x kemiskinan Maret 2025. Provinsi ber-IPM tinggi cenderung ber-kemiskinan rendah.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6000" y="225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0" y="2250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D8A"/>
                </a:solidFill>
                <a:latin typeface="Calibri"/>
              </a:defRPr>
            </a:pPr>
            <a:r>
              <a:t>Dua kutub yang sama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0" y="2530800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E2A26"/>
                </a:solidFill>
                <a:latin typeface="Calibri"/>
              </a:defRPr>
            </a:pPr>
            <a:r>
              <a:t>DKI Jakarta: IPM 85,05 dan kemiskinan 4,28%. Papua Pegunungan: IPM 54,91 dan kemiskinan 30,03%. Kemiskinan terendah di Bali: 3,72% dengan IPM 79,37.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6000" y="327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3276000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D8A"/>
                </a:solidFill>
                <a:latin typeface="Calibri"/>
              </a:defRPr>
            </a:pPr>
            <a:r>
              <a:t>Rentang UHH: 8,72 tahun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2000" y="3556799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E2A26"/>
                </a:solidFill>
                <a:latin typeface="Calibri"/>
              </a:defRPr>
            </a:pPr>
            <a:r>
              <a:t>Umur Harapan Hidup tertinggi DKI Jakarta 76,27 tahun, terendah Papua Pegunungan 67,55 tahun.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6000" y="4103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0" y="4103999"/>
            <a:ext cx="37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D8A"/>
                </a:solidFill>
                <a:latin typeface="Calibri"/>
              </a:defRPr>
            </a:pPr>
            <a:r>
              <a:t>Rentang pengeluaran: 3,53 kali lipat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2000" y="4384799"/>
            <a:ext cx="37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E2A26"/>
                </a:solidFill>
                <a:latin typeface="Calibri"/>
              </a:defRPr>
            </a:pPr>
            <a:r>
              <a:t>DKI Jakarta Rp20.676 ribu berbanding Papua Pegunungan Rp5.861 ribu per tahun, selisih Rp14.815 ribu.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IPM Indonesia 2026 • Data BPS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51200"/>
            <a:ext cx="113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Dashboard Power BI: IPM-Indonesia-2026.pbix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11200"/>
            <a:ext cx="11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9B7C6"/>
                </a:solidFill>
                <a:latin typeface="Calibri"/>
              </a:defRPr>
            </a:pPr>
            <a:r>
              <a:t>Kit siap rakit di folder powerbi/, model bintang, 19 measure DAX, 4 halaman</a:t>
            </a:r>
          </a:p>
        </p:txBody>
      </p:sp>
      <p:pic>
        <p:nvPicPr>
          <p:cNvPr id="6" name="Picture 5" descr="dashboard_preview_halama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80000"/>
            <a:ext cx="6983999" cy="39284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03999" y="111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0" y="1116000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D8A"/>
                </a:solidFill>
                <a:latin typeface="Calibri"/>
              </a:defRPr>
            </a:pPr>
            <a:r>
              <a:t>Halaman 1, Ringkasan Nasional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0" y="1396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Empat kartu KPI 2025 (75,90; 85,05; gap 30,14; 3 Sangat Tinggi), tren nasional 2020 sampai 2025, ranking mini 6 teratas, slicer tahun.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3999" y="2141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0" y="2141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D8A"/>
                </a:solidFill>
                <a:latin typeface="Calibri"/>
              </a:defRPr>
            </a:pPr>
            <a:r>
              <a:t>Halaman 2, Peringkat Provinsi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0" y="2422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Bar terurut 38 provinsi, tabel rinci dengan kategori, kartu jumlah per kategori (3, 30, 4, 1), slicer tahun dan kategori.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3999" y="297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0" y="2970000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D8A"/>
                </a:solidFill>
                <a:latin typeface="Calibri"/>
              </a:defRPr>
            </a:pPr>
            <a:r>
              <a:t>Halaman 3, Komponen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0" y="3250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Kartu rata-rata provinsi 2025: UHH 73,18, HLS 13,26, RLS 9,03, pengeluaran Rp11.962 ribu. Catatan: rata-rata sederhana 38 provinsi, bukan angka nasional resmi.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3999" y="3996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3996000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D8A"/>
                </a:solidFill>
                <a:latin typeface="Calibri"/>
              </a:defRPr>
            </a:pPr>
            <a:r>
              <a:t>Halaman 4, Tren dan Konvergensi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0" y="4276800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Tren provinsi 2022 sampai 2025 dan nasional 2020 sampai 2025, kolom gap per tahun, kartu kenaikan 3,09 dan gap 30,14.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3999" y="4823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6C8A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4823999"/>
            <a:ext cx="38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D8A"/>
                </a:solidFill>
                <a:latin typeface="Calibri"/>
              </a:defRPr>
            </a:pPr>
            <a:r>
              <a:t>Aman dari jebakan klasik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0" y="5104799"/>
            <a:ext cx="38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E2A26"/>
                </a:solidFill>
                <a:latin typeface="Calibri"/>
              </a:defRPr>
            </a:pPr>
            <a:r>
              <a:t>IPM adalah indeks: jangan dijumlah, pakai AVERAGE, MAX, atau MIN. Kunci filter tahun sebelum membaca peringkat, dan cocokkan setiap measure dengan tabel verifikasi di measures_dax.md.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4000" y="660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F76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660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F76"/>
                </a:solidFill>
                <a:latin typeface="Calibri"/>
              </a:defRPr>
            </a:pPr>
            <a:r>
              <a:t>IPM Indonesia 2026 • Data BPS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576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6048000" cy="21600"/>
          </a:xfrm>
          <a:prstGeom prst="rect">
            <a:avLst/>
          </a:prstGeom>
          <a:solidFill>
            <a:srgbClr val="7F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332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3320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Naik konsisten enam tahun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638000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9B7C6"/>
                </a:solidFill>
                <a:latin typeface="Calibri"/>
              </a:defRPr>
            </a:pPr>
            <a:r>
              <a:t>IPM mencapai 75,90 (kategori Tinggi) pada 2025, naik 3,09 poin dari 72,81 pada 2020, rata-rata +0,62 poin per tahun, dengan semua komponen membaik.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1852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1852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Jurang antarprovinsi belum ikut menyempit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491200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9B7C6"/>
                </a:solidFill>
                <a:latin typeface="Calibri"/>
              </a:defRPr>
            </a:pPr>
            <a:r>
              <a:t>Gap tertinggi ke terendah 30,14 poin (1,55 kali lipat), nyaris sama dengan 30,08 poin pada 2022, walau kelompok bawah tumbuh lebih cepat (2,15 vs 1,99 poin).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30384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0384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Ketertinggalan terdalam di uang dan pendidikan dewasa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344399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9B7C6"/>
                </a:solidFill>
                <a:latin typeface="Calibri"/>
              </a:defRPr>
            </a:pPr>
            <a:r>
              <a:t>Pengeluaran 10 provinsi terendah Rp9,36 juta vs Rp12,80 juta nasional, RLS 7,83 vs 9,07 tahun, dan gap HLS ke RLS 4,70 vs 4,23 tahun.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38915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891599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IPM dan kemiskinan bergerak berlawanan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197599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9B7C6"/>
                </a:solidFill>
                <a:latin typeface="Calibri"/>
              </a:defRPr>
            </a:pPr>
            <a:r>
              <a:t>Korelasi IPM 2025 x kemiskinan Maret 2025 sebesar r = -0,8188: Papua Pegunungan 54,91 dan 30,03% berbanding DKI Jakarta 85,05 dan 4,28%.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47447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B0D9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744799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Calibri"/>
              </a:defRPr>
            </a:pPr>
            <a:r>
              <a:t>Metode dan keterbatasan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050799"/>
            <a:ext cx="106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E9B7C6"/>
                </a:solidFill>
                <a:latin typeface="Calibri"/>
              </a:defRPr>
            </a:pPr>
            <a:r>
              <a:t>Seluruh angka dari Publikasi dan BRS IPM 2025 BPS, dapat ditelusur di data/SOURCES.md. Seri provinsi mulai 2022 karena pemekaran Papua, dan komponen provinsi hanya tersedia untuk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5976000"/>
            <a:ext cx="11160000" cy="18000"/>
          </a:xfrm>
          <a:prstGeom prst="rect">
            <a:avLst/>
          </a:prstGeom>
          <a:solidFill>
            <a:srgbClr val="7FB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999" y="6120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Terima kasih, BAGHIZ ASSHIDDIQIE ARASYA • Data Analyst</a:t>
            </a:r>
          </a:p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Repo: github.com/baghizash/ipm-indonesia-2026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